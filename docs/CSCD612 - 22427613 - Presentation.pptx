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033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Reproduction study of the KATC controller: reimplement from scratch, evaluate honestly what reproduces and what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Conventional control counts vehicles; KATC counts people. The objective is average passenger delay across both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Four-element loop: read, model, optimise, actuate. Updated every cycle over a 3-cycle horizon. Objective is Eq 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Paper: KATC-2 best, KATC-1 middle, SYNCHRO worst. Gains largest at low DOS, high occupancy. This is the pattern our reproduction inverts at low 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classical IS methods; GA primary, others supporting. Epsilon-greedy is a bandit heuristic, NOT reinforcement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phases. 1-2 analytical core (pure Python). 3-6 simulation and evaluation. Each maps to a paper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Kinematic-wave delay model. No worked example in the paper, so validated by physical sanity + internal identity (Eq 11 -&gt; Eq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 slide. Chromosome = 60-bit string (2-bit phase sequence + three 6-bit green-split factors per cycle x 3 cycles). GA evolves toward low delay. NOT reinforcement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embeds the controller in SUMO (substituting VISSIM). Fig 7 intersection, 8 bus routes, read-optimise-actuate loop over TraCI. Full NEMA dual-ring.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findings of a reproduction study — the paper's terse spec forced documented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 finding: reproduces at high DOS, inverts at low DOS. Honest analysis of why is the intellectual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takeaways: reproduced the method, diverged at low DOS, and the lesson is understanding why. Close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7315200" cy="0"/>
          </a:xfrm>
          <a:prstGeom prst="line">
            <a:avLst/>
          </a:prstGeom>
          <a:noFill/>
          <a:ln w="25400">
            <a:solidFill>
              <a:srgbClr val="8B2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71809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 Reproduction Study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Kinematic-Wave-Based Adaptive Transit Signal Priority Control using Genetic Algorithm</a:t>
            </a:r>
            <a:endParaRPr lang="en-US" sz="3400" dirty="0">
              <a:latin typeface="Century Gothic" panose="020B0502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Original paper: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Behbahani, H. &amp; Poorjafari, V. (2022). IET Intelligent Transport Systems, 17(5), 912-928.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DOI: 10.1049/itr2.12316</a:t>
            </a:r>
            <a:endParaRPr lang="en-US" sz="1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Background &amp; Problem Statement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Transit Signal Priority (TSP) gives public-transport vehicles priority at signalised intersections, ideally without unduly penalising general traffic.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Conventional signal control</a:t>
            </a:r>
            <a:endParaRPr lang="en-US" sz="1700" dirty="0">
              <a:latin typeface="Century Gothic" panose="020B0502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02920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Optimises for </a:t>
            </a:r>
            <a:r>
              <a:rPr lang="en-US" sz="1500" b="1" i="1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vehicles</a:t>
            </a:r>
            <a:r>
              <a:rPr lang="en-US" sz="15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— every car counts equally. A full bus carrying 40+ passengers is weighted the same as a single-occupant car.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0936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KATC's passenger-based approach</a:t>
            </a:r>
            <a:endParaRPr lang="en-US" sz="1700" dirty="0">
              <a:latin typeface="Century Gothic" panose="020B0502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2880360"/>
            <a:ext cx="5029200" cy="0"/>
          </a:xfrm>
          <a:prstGeom prst="line">
            <a:avLst/>
          </a:prstGeom>
          <a:noFill/>
          <a:ln w="19050">
            <a:solidFill>
              <a:srgbClr val="8B26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0175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Optimises for </a:t>
            </a:r>
            <a:r>
              <a:rPr lang="en-US" sz="1500" b="1" i="1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passengers</a:t>
            </a:r>
            <a:r>
              <a:rPr lang="en-US" sz="15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— vehicles are weighted by occupancy. A full bus receives priority proportional to the people it carries.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60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minimise average passenger delay across both modes at a signalised intersection.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Summary of the Paper's Method (KATC)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 closed control loop, re-optimising the signal each cycle over a three-cycle decision horizon: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I.</a:t>
            </a: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Read  —  </a:t>
            </a:r>
            <a:r>
              <a:rPr lang="en-US" sz="14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traffic state, and PT-vehicle position and passenger occupancy (via V2I)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II.</a:t>
            </a: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Model  —  </a:t>
            </a:r>
            <a:r>
              <a:rPr lang="en-US" sz="14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predict delay for any candidate plan using kinematic-wave shockwave analysis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III.</a:t>
            </a: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Optimise  —  </a:t>
            </a:r>
            <a:r>
              <a:rPr lang="en-US" sz="14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 genetic algorithm searches green-time splits and phase sequence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IV.</a:t>
            </a: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4389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Actuate  —  </a:t>
            </a:r>
            <a:r>
              <a:rPr lang="en-US" sz="14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deploy the best plan, advance one cycle, and repeat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0" y="2057400"/>
            <a:ext cx="0" cy="310896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Objective (Eq. 43)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61120" y="2651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minimise average passenger delay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61120" y="3657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= total passenger-seconds of delay ÷ passengers served</a:t>
            </a:r>
            <a:endParaRPr lang="en-US" sz="13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Performance, Results &amp; Conclusions (Paper)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Three controllers compared across 35 scenarios (7 saturation levels × 5 occupancy levels), 10 runs each: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1809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9184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1809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Optimises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751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1809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130552"/>
            <a:ext cx="9875520" cy="0"/>
          </a:xfrm>
          <a:prstGeom prst="line">
            <a:avLst/>
          </a:prstGeom>
          <a:noFill/>
          <a:ln w="1524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40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KATC-2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green times + phase sequence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75120" y="2240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lowest passenger delay (best)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2788920"/>
            <a:ext cx="98755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535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KATC-1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91840" y="29535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green times only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75120" y="29535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3502152"/>
            <a:ext cx="98755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667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SYNCHRO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91840" y="36667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vehicle-based baseline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75120" y="366674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highest delay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4215384"/>
            <a:ext cx="98755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463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B2635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Key finding.  </a:t>
            </a:r>
            <a:r>
              <a:rPr lang="en-US" sz="150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KATC-2 reduces passenger delay versus both baselines, with the largest improvements at </a:t>
            </a:r>
            <a:r>
              <a:rPr lang="en-US" sz="1500" b="1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low saturation and high PT occupancy.</a:t>
            </a:r>
            <a:endParaRPr lang="en-US" sz="15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Information-Systems Methods Implemented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Genetic Algorithm  —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 primary optimiser — searches the signal-plan space (a MINLP)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88720" y="2212848"/>
            <a:ext cx="1014984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317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Metaheuristic search operators  —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elitism, tournament selection, mask crossover, adaptive mutation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88720" y="2990088"/>
            <a:ext cx="1014984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1089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Epsilon-greedy (multi-armed bandit)  —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selects phase sequence from simulation-measured bus delay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88720" y="3767328"/>
            <a:ext cx="1014984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862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Kinematic-wave modelling  —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analytical delay surrogate serving as the GA's fitness function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88720" y="4544568"/>
            <a:ext cx="1014984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6634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720" y="46634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Constraint handling  —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guarantees feasible signal plans (cycle length, minimum green, dual-ring barrier)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88720" y="5321808"/>
            <a:ext cx="1014984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4406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88720" y="54406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Discrete-event simulation  —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SUMO software-in-the-loop evaluation of the controller</a:t>
            </a:r>
            <a:endParaRPr lang="en-US" sz="15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Reproduction Architecture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 method was rebuilt as six phases; Phases 1-2 form a simulator-independent analytical core, Phases 3-6 the simulation and evaluation.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pic>
        <p:nvPicPr>
          <p:cNvPr id="6" name="Image 0" descr="deck_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108813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Phases 1-2 validated by 37 unit tests; Phases 3-6 validated in simulation. Each phase maps to a section of the paper.</a:t>
            </a:r>
            <a:endParaRPr lang="en-US" sz="14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Phase 1 — Kinematic-Wave Delay Model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 analytical engine that predicts delay for any signal plan — the fitness function the GA optimises.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1809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233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1809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What it computes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09760" y="1691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1809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10332720" cy="0"/>
          </a:xfrm>
          <a:prstGeom prst="line">
            <a:avLst/>
          </a:prstGeom>
          <a:noFill/>
          <a:ln w="1524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762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Fundamental diagram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217627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triangular flow-density relation → shockwave speeds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509760" y="217627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2635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Eqs. 2-3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2852928"/>
            <a:ext cx="1033272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9923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General-traffic delay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23360" y="299923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queue formation, dissipation, residual carry-over across cycles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509760" y="29992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2635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Eqs. 4-12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3675888"/>
            <a:ext cx="1033272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221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PT-vehicle delay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23360" y="382219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four cases × sub-cases by bus position and saturation state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09760" y="382219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2635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Eqs. 13-42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4498848"/>
            <a:ext cx="1033272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451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Average passenger delay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23360" y="464515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combine both modes; weight PT by occupancy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09760" y="464515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2635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Eq. 43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2960" y="5321808"/>
            <a:ext cx="1033272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Validation.  </a:t>
            </a:r>
            <a:r>
              <a:rPr lang="en-US" sz="13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22 unit tests confirm physical sanity and an internal identity — the oversaturated queue equation (Eq. 11) reduces exactly to the undersaturated one (Eq. 4) when residuals vanish, evidencing faithful transcription.</a:t>
            </a:r>
            <a:endParaRPr lang="en-US" sz="13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Phase 2 — The Genetic Algorithm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pic>
        <p:nvPicPr>
          <p:cNvPr id="5" name="Image 0" descr="deck_assets/ga_chromos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6035040" cy="3017520"/>
          </a:xfrm>
          <a:prstGeom prst="rect">
            <a:avLst/>
          </a:prstGeom>
        </p:spPr>
      </p:pic>
      <p:pic>
        <p:nvPicPr>
          <p:cNvPr id="6" name="Image 1" descr="deck_assets/ga_converg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371600"/>
            <a:ext cx="5029200" cy="3108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4663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Why a genetic algorithm.  </a:t>
            </a:r>
            <a:r>
              <a:rPr lang="en-US" sz="13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 problem is mixed-integer and non-linear — a discrete phase sequence and a non-smooth delay function. Gradient methods require smoothness; the GA needs only to score candidates.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Configuration (verified).  </a:t>
            </a:r>
            <a:r>
              <a:rPr lang="en-US" sz="13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Population 150 · 150 generations · elitism · mask crossover · adaptive mutation 0.01→0.02 · fitness = 1 / average passenger delay.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2D6A4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Result.  </a:t>
            </a:r>
            <a:r>
              <a:rPr lang="en-US" sz="1350" i="1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≈46% delay reduction versus random plans; convergence in ≈25 generations (&lt;3 s) — consistent with the paper.</a:t>
            </a:r>
            <a:endParaRPr lang="en-US" sz="13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Phase 3 — Simulation (SUMO)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pic>
        <p:nvPicPr>
          <p:cNvPr id="5" name="Image 0" descr="deck_assets/inter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48056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0" y="15087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Closed control loop over TraCI, replacing the paper's VISSIM + COM interface: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94960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0" y="22860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Read  —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queue state, bus position and occupancy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94960" y="2971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0" y="29718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Optimise  —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run the KATC controller (Phases 1-2)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94960" y="3657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43600" y="36576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Actuate  —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write the NEMA signal plan back to SUMO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394960" y="4343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43600" y="43434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Step  —  </a:t>
            </a:r>
            <a:r>
              <a:rPr lang="en-US" sz="14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advance one cycle, then repeat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94960" y="52120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Full NEMA dual-ring signal </a:t>
            </a:r>
            <a:r>
              <a:rPr lang="en-US" sz="135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(eight movements, exclusive left lanes, lead/lag ordering) was chosen so the phase-sequence variable — KATC-2's contribution — is meaningful in simulation.</a:t>
            </a:r>
            <a:endParaRPr lang="en-US" sz="13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Reproducibility Challenges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Details the original left unspecified, and the principled reconstructions made (each documented):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VISSIM → SUMO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0" y="205740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commercial simulator (trial disables the control interface) replaced by open-source SUMO + TraCI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1060704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98648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SYNCHRO → Webster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0" y="2898648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commercial baseline replaced by a fixed-time Webster plan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3675888"/>
            <a:ext cx="1060704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39896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Intersection geometry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0" y="3739896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Fig. 7 under-specified; exclusive-left-lane structure reconstructed, an error caught by inspecting the simulation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517136"/>
            <a:ext cx="1060704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81144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Coefficient-factor mapping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0" y="4581144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 three-factor to eight-movement mapping is unpublished; a dual-ring interpretation was adopted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" y="5358384"/>
            <a:ext cx="1060704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422392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Phase sequence in the model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0" y="5422392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 analytical delay is sequence-invariant; phase sequence was instead measured from live simulation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6199632"/>
            <a:ext cx="1060704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Reproduction Results — Key Finding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pic>
        <p:nvPicPr>
          <p:cNvPr id="5" name="Image 0" descr="deck_assets/win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66928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KATC-2 was partially reproduced:</a:t>
            </a: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92240" y="22860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D6A4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At high saturation  </a:t>
            </a:r>
            <a:r>
              <a:rPr lang="en-US" sz="140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KATC-2 outperforms fixed-time (+5 to +11%), matching the paper's direction.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92240" y="3429000"/>
            <a:ext cx="502920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36118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8B2635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At low saturation  </a:t>
            </a:r>
            <a:r>
              <a:rPr lang="en-US" sz="140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KATC-2 underperforms fixed-time — the opposite of the paper's reported pattern.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92240" y="48006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1A2B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Likely causes.  </a:t>
            </a:r>
            <a:r>
              <a:rPr lang="en-US" sz="1300" i="1" dirty="0">
                <a:solidFill>
                  <a:srgbClr val="4A556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re-optimisation instability at low demand; the analytical fitness diverging from simulated delay; uncalibrated fundamental-diagram parameters.</a:t>
            </a:r>
            <a:endParaRPr lang="en-US" sz="13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0" y="502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AEC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Reproduced</a:t>
            </a:r>
            <a:endParaRPr lang="en-US" sz="19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918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 full method — the delay model, the GA optimiser (converging as reported), and the closed simulation loop.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Diverged</a:t>
            </a:r>
            <a:endParaRPr lang="en-US" sz="1900" dirty="0">
              <a:latin typeface="Century Gothic" panose="020B0502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91840" y="2971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KATC-2 outperformed fixed-time at high saturation but not at low — the reverse of the original.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06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8B2635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Learned</a:t>
            </a:r>
            <a:endParaRPr lang="en-US" sz="1900" dirty="0">
              <a:latin typeface="Century Gothic" panose="020B0502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4206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A202C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the value of a reproduction lies in understanding where and why a method holds or breaks, not in matching every figure.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1305</Words>
  <Application>Microsoft Office PowerPoint</Application>
  <PresentationFormat>Widescreen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Terrence Binful</cp:lastModifiedBy>
  <cp:revision>2</cp:revision>
  <dcterms:created xsi:type="dcterms:W3CDTF">2026-08-01T08:28:45Z</dcterms:created>
  <dcterms:modified xsi:type="dcterms:W3CDTF">2026-08-19T22:08:16Z</dcterms:modified>
</cp:coreProperties>
</file>